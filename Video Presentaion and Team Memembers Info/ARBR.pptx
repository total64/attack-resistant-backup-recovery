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3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system that supports security monitoring, backup integrity verification, and data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system that supports security monitoring, backup integrity verification, and data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threats and the four challenges, then state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the main components and the end-to-end flow. The next slide shows the full architecture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architecture diagram: end hosts feed Wazuh; the backend collects events, scores risk, and decides; backup protection, verification, and orchestration act; isolation and recovery respond; backup storage keeps encrypted, immutable, hashed backups.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steps from detection to recovery and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benefits, share the repository link, and thank the audience. Replace the repository placeholder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0850"/>
            <a:ext cx="11468735" cy="9277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ATTACK-RESISTANT BACKUP AND RECOVERY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93850"/>
            <a:ext cx="4228465" cy="3835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Naaol Raffisaa  CTC-1138-26</a:t>
            </a:r>
            <a:endParaRPr lang="en-US" altLang="en-US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Task: Isolation &amp; Recovery</a:t>
            </a:r>
            <a:endParaRPr lang="en-US" altLang="en-US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Branch: feature/isolation-recovery</a:t>
            </a:r>
            <a:endParaRPr lang="en-US" altLang="en-US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Abenezer Tekalign  CTC-7212-26</a:t>
            </a:r>
            <a:endParaRPr lang="en-US" altLang="en-US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Task: API &amp; Dashboard</a:t>
            </a:r>
            <a:endParaRPr lang="en-US" altLang="en-US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Branch: feature/api-dashboard</a:t>
            </a:r>
            <a:endParaRPr lang="en-US" altLang="en-US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Eden Mulugeta  CTC-4135-26</a:t>
            </a:r>
            <a:endParaRPr lang="en-US" altLang="en-US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Task: Backup &amp; Integrity</a:t>
            </a:r>
            <a:endParaRPr lang="en-US" altLang="en-US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sz="2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Branch: feature/backup-integrity</a:t>
            </a:r>
            <a:endParaRPr lang="en-US" altLang="en-US" sz="20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36880" y="63830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Year: 2026</a:t>
            </a:r>
            <a:endParaRPr lang="en-US" sz="1400" dirty="0"/>
          </a:p>
        </p:txBody>
      </p:sp>
      <p:sp>
        <p:nvSpPr>
          <p:cNvPr id="7" name="Hexagon"/>
          <p:cNvSpPr/>
          <p:nvPr/>
        </p:nvSpPr>
        <p:spPr>
          <a:xfrm>
            <a:off x="8638540" y="1811020"/>
            <a:ext cx="3108960" cy="2743200"/>
          </a:xfrm>
          <a:prstGeom prst="hexagon">
            <a:avLst/>
          </a:prstGeom>
          <a:solidFill>
            <a:srgbClr val="192B48"/>
          </a:solidFill>
          <a:ln w="762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27440" y="1811020"/>
            <a:ext cx="310896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600" dirty="0"/>
          </a:p>
        </p:txBody>
      </p:sp>
      <p:sp>
        <p:nvSpPr>
          <p:cNvPr id="9" name="Text Box 8"/>
          <p:cNvSpPr txBox="1"/>
          <p:nvPr/>
        </p:nvSpPr>
        <p:spPr>
          <a:xfrm>
            <a:off x="5008880" y="2042795"/>
            <a:ext cx="426656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4. </a:t>
            </a:r>
            <a:r>
              <a:rPr lang="en-US" altLang="en-US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Befikir Shimelis  CTC-674-26</a:t>
            </a: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Task: Wazuh &amp; Detection</a:t>
            </a: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Branch: feature/wazuh-detection</a:t>
            </a: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5. Lameik Equar CTC-3115-26</a:t>
            </a:r>
            <a:endParaRPr lang="en-US" altLang="en-US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Task: Event Collection &amp; Risk Engine</a:t>
            </a: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Branch: feature/risk-engine</a:t>
            </a: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6. Naboni Abrham CTC-459-26</a:t>
            </a:r>
            <a:endParaRPr lang="en-US" altLang="en-US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Task: Decision Engine</a:t>
            </a: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Branch: feature/decision-engine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CYBERSECURITY  •  DATA RESILIENCE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67665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ATTACK-RESISTANT BACKUP AND RECOVERY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Presentation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6052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Smarter Detection. Safer Backups. Stronger Recovery.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1206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Year: 2026</a:t>
            </a:r>
            <a:endParaRPr lang="en-US" sz="1400" dirty="0"/>
          </a:p>
        </p:txBody>
      </p:sp>
      <p:sp>
        <p:nvSpPr>
          <p:cNvPr id="7" name="Hexagon"/>
          <p:cNvSpPr/>
          <p:nvPr/>
        </p:nvSpPr>
        <p:spPr>
          <a:xfrm>
            <a:off x="8138160" y="1737360"/>
            <a:ext cx="3108960" cy="2743200"/>
          </a:xfrm>
          <a:prstGeom prst="hexagon">
            <a:avLst/>
          </a:prstGeom>
          <a:solidFill>
            <a:srgbClr val="192B48"/>
          </a:solidFill>
          <a:ln w="762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1737360"/>
            <a:ext cx="310896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•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 we address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ATTACK-RESISTANT BACKUP &amp; RECOVERY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4008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07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 digital data can be threatened by ransomware, malware, unauthorized access, and accidental changes.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CHALLENGES</a:t>
            </a:r>
            <a:endParaRPr lang="en-US" sz="1200" dirty="0"/>
          </a:p>
        </p:txBody>
      </p:sp>
      <p:sp>
        <p:nvSpPr>
          <p:cNvPr id="8" name="Challenge 1"/>
          <p:cNvSpPr/>
          <p:nvPr/>
        </p:nvSpPr>
        <p:spPr>
          <a:xfrm>
            <a:off x="548640" y="265176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incidents can damage or modify important files.</a:t>
            </a:r>
            <a:endParaRPr lang="en-US" sz="1600" dirty="0"/>
          </a:p>
        </p:txBody>
      </p:sp>
      <p:sp>
        <p:nvSpPr>
          <p:cNvPr id="12" name="Challenge 2"/>
          <p:cNvSpPr/>
          <p:nvPr/>
        </p:nvSpPr>
        <p:spPr>
          <a:xfrm>
            <a:off x="3364992" y="265176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2834640"/>
            <a:ext cx="457200" cy="457200"/>
          </a:xfrm>
          <a:prstGeom prst="ellipse">
            <a:avLst/>
          </a:prstGeom>
          <a:solidFill>
            <a:srgbClr val="F5B74A"/>
          </a:solidFill>
          <a:ln w="12700">
            <a:solidFill>
              <a:srgbClr val="F5B7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93592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4290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Backups may become corrupted or compromised.</a:t>
            </a:r>
            <a:endParaRPr lang="en-US" sz="1600" dirty="0"/>
          </a:p>
        </p:txBody>
      </p:sp>
      <p:sp>
        <p:nvSpPr>
          <p:cNvPr id="16" name="Challenge 3"/>
          <p:cNvSpPr/>
          <p:nvPr/>
        </p:nvSpPr>
        <p:spPr>
          <a:xfrm>
            <a:off x="6181344" y="265176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9944" y="283464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34290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can be difficult without trusted backup copies.</a:t>
            </a:r>
            <a:endParaRPr lang="en-US" sz="1600" dirty="0"/>
          </a:p>
        </p:txBody>
      </p:sp>
      <p:sp>
        <p:nvSpPr>
          <p:cNvPr id="20" name="Challenge 4"/>
          <p:cNvSpPr/>
          <p:nvPr/>
        </p:nvSpPr>
        <p:spPr>
          <a:xfrm>
            <a:off x="8997696" y="265176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2834640"/>
            <a:ext cx="457200" cy="457200"/>
          </a:xfrm>
          <a:prstGeom prst="ellipse">
            <a:avLst/>
          </a:prstGeom>
          <a:solidFill>
            <a:srgbClr val="4ADE9F"/>
          </a:solidFill>
          <a:ln w="12700">
            <a:solidFill>
              <a:srgbClr val="4ADE9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26296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429000"/>
            <a:ext cx="2194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monitoring and recovery can take time.</a:t>
            </a:r>
            <a:endParaRPr lang="en-US" sz="1600" dirty="0"/>
          </a:p>
        </p:txBody>
      </p:sp>
      <p:sp>
        <p:nvSpPr>
          <p:cNvPr id="24" name="Goal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GOAL   </a:t>
            </a:r>
            <a:r>
              <a:rPr lang="en-US" sz="18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 system that supports security monitoring, backup integrity verification, and data recovery.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• OBJECTIVES &amp;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 and main features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ATTACK-RESISTANT BACKUP &amp; RECOVERY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4008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/ 07</a:t>
            </a:r>
            <a:endParaRPr lang="en-US" sz="1000" dirty="0"/>
          </a:p>
        </p:txBody>
      </p:sp>
      <p:sp>
        <p:nvSpPr>
          <p:cNvPr id="6" name="Objective 1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92024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Security-Event Handling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6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backend functionality for receiving and reviewing security events.</a:t>
            </a:r>
            <a:endParaRPr lang="en-US" sz="1500" dirty="0"/>
          </a:p>
        </p:txBody>
      </p:sp>
      <p:sp>
        <p:nvSpPr>
          <p:cNvPr id="11" name="Objective 2"/>
          <p:cNvSpPr/>
          <p:nvPr/>
        </p:nvSpPr>
        <p:spPr>
          <a:xfrm>
            <a:off x="429768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F5B74A"/>
          </a:solidFill>
          <a:ln w="12700">
            <a:solidFill>
              <a:srgbClr val="F5B7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92024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06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Helps evaluate security events and classify their risk levels.</a:t>
            </a:r>
            <a:endParaRPr lang="en-US" sz="1500" dirty="0"/>
          </a:p>
        </p:txBody>
      </p:sp>
      <p:sp>
        <p:nvSpPr>
          <p:cNvPr id="16" name="Objective 3"/>
          <p:cNvSpPr/>
          <p:nvPr/>
        </p:nvSpPr>
        <p:spPr>
          <a:xfrm>
            <a:off x="804672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92024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192024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Protection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606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backup management and integrity verification.</a:t>
            </a:r>
            <a:endParaRPr lang="en-US" sz="1500" dirty="0"/>
          </a:p>
        </p:txBody>
      </p:sp>
      <p:sp>
        <p:nvSpPr>
          <p:cNvPr id="21" name="Objective 4"/>
          <p:cNvSpPr/>
          <p:nvPr/>
        </p:nvSpPr>
        <p:spPr>
          <a:xfrm>
            <a:off x="242316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7480" y="4206240"/>
            <a:ext cx="502920" cy="502920"/>
          </a:xfrm>
          <a:prstGeom prst="ellipse">
            <a:avLst/>
          </a:prstGeom>
          <a:solidFill>
            <a:srgbClr val="4ADE9F"/>
          </a:solidFill>
          <a:ln w="12700">
            <a:solidFill>
              <a:srgbClr val="4ADE9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97480" y="4206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420624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Support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4892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components for recovering data from trusted backups.</a:t>
            </a:r>
            <a:endParaRPr lang="en-US" sz="1500" dirty="0"/>
          </a:p>
        </p:txBody>
      </p:sp>
      <p:sp>
        <p:nvSpPr>
          <p:cNvPr id="26" name="Objective 5"/>
          <p:cNvSpPr/>
          <p:nvPr/>
        </p:nvSpPr>
        <p:spPr>
          <a:xfrm>
            <a:off x="617220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4206240"/>
            <a:ext cx="502920" cy="502920"/>
          </a:xfrm>
          <a:prstGeom prst="ellipse">
            <a:avLst/>
          </a:prstGeom>
          <a:solidFill>
            <a:srgbClr val="F2677A"/>
          </a:solidFill>
          <a:ln w="12700">
            <a:solidFill>
              <a:srgbClr val="F2677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4206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420624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Dashboard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4892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Offers a central interface for viewing system status and security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•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ATTACK-RESISTANT BACKUP &amp; RECOVERY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4008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/ 07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COMPONENTS</a:t>
            </a:r>
            <a:endParaRPr lang="en-US" sz="1200" dirty="0"/>
          </a:p>
        </p:txBody>
      </p:sp>
      <p:sp>
        <p:nvSpPr>
          <p:cNvPr id="7" name="Component 1"/>
          <p:cNvSpPr/>
          <p:nvPr/>
        </p:nvSpPr>
        <p:spPr>
          <a:xfrm>
            <a:off x="548640" y="1920240"/>
            <a:ext cx="5440680" cy="731520"/>
          </a:xfrm>
          <a:prstGeom prst="roundRect">
            <a:avLst>
              <a:gd name="adj" fmla="val 15000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84832"/>
            <a:ext cx="402336" cy="402336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0848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920240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dashboard</a:t>
            </a:r>
            <a:endParaRPr lang="en-US" sz="1600" dirty="0"/>
          </a:p>
        </p:txBody>
      </p:sp>
      <p:sp>
        <p:nvSpPr>
          <p:cNvPr id="11" name="Component 2"/>
          <p:cNvSpPr/>
          <p:nvPr/>
        </p:nvSpPr>
        <p:spPr>
          <a:xfrm>
            <a:off x="6172200" y="1920240"/>
            <a:ext cx="5440680" cy="731520"/>
          </a:xfrm>
          <a:prstGeom prst="roundRect">
            <a:avLst>
              <a:gd name="adj" fmla="val 15000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084832"/>
            <a:ext cx="402336" cy="402336"/>
          </a:xfrm>
          <a:prstGeom prst="ellipse">
            <a:avLst/>
          </a:prstGeom>
          <a:solidFill>
            <a:srgbClr val="F5B74A"/>
          </a:solidFill>
          <a:ln w="12700">
            <a:solidFill>
              <a:srgbClr val="F5B7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20848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920240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FastAPI backend</a:t>
            </a:r>
            <a:endParaRPr lang="en-US" sz="1600" dirty="0"/>
          </a:p>
        </p:txBody>
      </p:sp>
      <p:sp>
        <p:nvSpPr>
          <p:cNvPr id="15" name="Component 3"/>
          <p:cNvSpPr/>
          <p:nvPr/>
        </p:nvSpPr>
        <p:spPr>
          <a:xfrm>
            <a:off x="548640" y="2788920"/>
            <a:ext cx="5440680" cy="731520"/>
          </a:xfrm>
          <a:prstGeom prst="roundRect">
            <a:avLst>
              <a:gd name="adj" fmla="val 15000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953512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953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788920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Wazuh security monitoring integration</a:t>
            </a:r>
            <a:endParaRPr lang="en-US" sz="1600" dirty="0"/>
          </a:p>
        </p:txBody>
      </p:sp>
      <p:sp>
        <p:nvSpPr>
          <p:cNvPr id="19" name="Component 4"/>
          <p:cNvSpPr/>
          <p:nvPr/>
        </p:nvSpPr>
        <p:spPr>
          <a:xfrm>
            <a:off x="6172200" y="2788920"/>
            <a:ext cx="5440680" cy="731520"/>
          </a:xfrm>
          <a:prstGeom prst="roundRect">
            <a:avLst>
              <a:gd name="adj" fmla="val 15000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953512"/>
            <a:ext cx="402336" cy="402336"/>
          </a:xfrm>
          <a:prstGeom prst="ellipse">
            <a:avLst/>
          </a:prstGeom>
          <a:solidFill>
            <a:srgbClr val="4ADE9F"/>
          </a:solidFill>
          <a:ln w="12700">
            <a:solidFill>
              <a:srgbClr val="4ADE9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29535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788920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Security-event collection and risk assessment</a:t>
            </a:r>
            <a:endParaRPr lang="en-US" sz="1600" dirty="0"/>
          </a:p>
        </p:txBody>
      </p:sp>
      <p:sp>
        <p:nvSpPr>
          <p:cNvPr id="23" name="Component 5"/>
          <p:cNvSpPr/>
          <p:nvPr/>
        </p:nvSpPr>
        <p:spPr>
          <a:xfrm>
            <a:off x="548640" y="3657600"/>
            <a:ext cx="5440680" cy="731520"/>
          </a:xfrm>
          <a:prstGeom prst="roundRect">
            <a:avLst>
              <a:gd name="adj" fmla="val 15000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822192"/>
            <a:ext cx="402336" cy="402336"/>
          </a:xfrm>
          <a:prstGeom prst="ellipse">
            <a:avLst/>
          </a:prstGeom>
          <a:solidFill>
            <a:srgbClr val="F2677A"/>
          </a:solidFill>
          <a:ln w="12700">
            <a:solidFill>
              <a:srgbClr val="F267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8221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657600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protection and integrity verification</a:t>
            </a:r>
            <a:endParaRPr lang="en-US" sz="1600" dirty="0"/>
          </a:p>
        </p:txBody>
      </p:sp>
      <p:sp>
        <p:nvSpPr>
          <p:cNvPr id="27" name="Component 6"/>
          <p:cNvSpPr/>
          <p:nvPr/>
        </p:nvSpPr>
        <p:spPr>
          <a:xfrm>
            <a:off x="6172200" y="3657600"/>
            <a:ext cx="5440680" cy="731520"/>
          </a:xfrm>
          <a:prstGeom prst="roundRect">
            <a:avLst>
              <a:gd name="adj" fmla="val 15000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822192"/>
            <a:ext cx="402336" cy="402336"/>
          </a:xfrm>
          <a:prstGeom prst="ellipse">
            <a:avLst/>
          </a:prstGeom>
          <a:solidFill>
            <a:srgbClr val="45DAE1"/>
          </a:solidFill>
          <a:ln w="12700">
            <a:solidFill>
              <a:srgbClr val="4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38221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657600"/>
            <a:ext cx="4526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storage and recovery components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FLOW</a:t>
            </a:r>
            <a:endParaRPr lang="en-US" sz="1200" dirty="0"/>
          </a:p>
        </p:txBody>
      </p:sp>
      <p:sp>
        <p:nvSpPr>
          <p:cNvPr id="32" name="Flow 1"/>
          <p:cNvSpPr/>
          <p:nvPr/>
        </p:nvSpPr>
        <p:spPr>
          <a:xfrm>
            <a:off x="548640" y="502920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F3454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5029200"/>
            <a:ext cx="1691640" cy="64008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240280" y="5029200"/>
            <a:ext cx="182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Flow 2"/>
          <p:cNvSpPr/>
          <p:nvPr/>
        </p:nvSpPr>
        <p:spPr>
          <a:xfrm>
            <a:off x="2423160" y="502920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F3454"/>
          </a:solidFill>
          <a:ln w="19050">
            <a:solidFill>
              <a:srgbClr val="F5B74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423160" y="5029200"/>
            <a:ext cx="1691640" cy="64008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 Collection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0" y="5029200"/>
            <a:ext cx="182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Flow 3"/>
          <p:cNvSpPr/>
          <p:nvPr/>
        </p:nvSpPr>
        <p:spPr>
          <a:xfrm>
            <a:off x="4297680" y="502920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F345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97680" y="5029200"/>
            <a:ext cx="1691640" cy="64008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Analysis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5029200"/>
            <a:ext cx="182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Flow 4"/>
          <p:cNvSpPr/>
          <p:nvPr/>
        </p:nvSpPr>
        <p:spPr>
          <a:xfrm>
            <a:off x="6172200" y="502920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F3454"/>
          </a:solidFill>
          <a:ln w="19050">
            <a:solidFill>
              <a:srgbClr val="4ADE9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72200" y="5029200"/>
            <a:ext cx="1691640" cy="64008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Making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863840" y="5029200"/>
            <a:ext cx="182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Flow 5"/>
          <p:cNvSpPr/>
          <p:nvPr/>
        </p:nvSpPr>
        <p:spPr>
          <a:xfrm>
            <a:off x="8046720" y="502920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F3454"/>
          </a:solidFill>
          <a:ln w="19050">
            <a:solidFill>
              <a:srgbClr val="F2677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6720" y="5029200"/>
            <a:ext cx="1691640" cy="64008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Execution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9738360" y="5029200"/>
            <a:ext cx="182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Flow 6"/>
          <p:cNvSpPr/>
          <p:nvPr/>
        </p:nvSpPr>
        <p:spPr>
          <a:xfrm>
            <a:off x="9921240" y="5029200"/>
            <a:ext cx="1691640" cy="640080"/>
          </a:xfrm>
          <a:prstGeom prst="roundRect">
            <a:avLst>
              <a:gd name="adj" fmla="val 14286"/>
            </a:avLst>
          </a:prstGeom>
          <a:solidFill>
            <a:srgbClr val="1F3454"/>
          </a:solidFill>
          <a:ln w="19050">
            <a:solidFill>
              <a:srgbClr val="45DAE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921240" y="5029200"/>
            <a:ext cx="1691640" cy="640080"/>
          </a:xfrm>
          <a:prstGeom prst="rect">
            <a:avLst/>
          </a:prstGeom>
          <a:noFill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&amp; Reporting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architecture illustrates how the components are designed to work together to support security monitoring, backup protection, and recovery.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• ARCHITECTURE DIAGRAM</a:t>
            </a:r>
            <a:endParaRPr lang="en-US" sz="1200" dirty="0"/>
          </a:p>
        </p:txBody>
      </p:sp>
      <p:sp>
        <p:nvSpPr>
          <p:cNvPr id="3" name="Image frame"/>
          <p:cNvSpPr/>
          <p:nvPr/>
        </p:nvSpPr>
        <p:spPr>
          <a:xfrm>
            <a:off x="2850549" y="594360"/>
            <a:ext cx="6490597" cy="585216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1F3454"/>
            </a:solidFill>
            <a:prstDash val="solid"/>
          </a:ln>
        </p:spPr>
      </p:sp>
      <p:pic>
        <p:nvPicPr>
          <p:cNvPr id="4" name="Image 0" descr="System architecture diagram of the Attack-Resistant Backup and Recovery System: Wazuh detection, backend risk and decision engines, backup protection and verification, isolation, recovery, and backup storage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1989" y="640080"/>
            <a:ext cx="6307717" cy="5760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0" y="649224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• 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system works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ATTACK-RESISTANT BACKUP &amp; RECOVERY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4008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/ 07</a:t>
            </a:r>
            <a:endParaRPr lang="en-US" sz="1000" dirty="0"/>
          </a:p>
        </p:txBody>
      </p:sp>
      <p:sp>
        <p:nvSpPr>
          <p:cNvPr id="6" name="Step 1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4C8DFF"/>
          </a:solidFill>
          <a:ln w="12700">
            <a:solidFill>
              <a:srgbClr val="4C8D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92024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Detection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6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monitoring tool identifies suspicious activity.</a:t>
            </a:r>
            <a:endParaRPr lang="en-US" sz="1500" dirty="0"/>
          </a:p>
        </p:txBody>
      </p:sp>
      <p:sp>
        <p:nvSpPr>
          <p:cNvPr id="11" name="Step 2"/>
          <p:cNvSpPr/>
          <p:nvPr/>
        </p:nvSpPr>
        <p:spPr>
          <a:xfrm>
            <a:off x="429768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F5B74A"/>
          </a:solidFill>
          <a:ln w="12700">
            <a:solidFill>
              <a:srgbClr val="F5B7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92024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Event Collection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06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backend receives and processes security-event information.</a:t>
            </a:r>
            <a:endParaRPr lang="en-US" sz="1500" dirty="0"/>
          </a:p>
        </p:txBody>
      </p:sp>
      <p:sp>
        <p:nvSpPr>
          <p:cNvPr id="16" name="Step 3"/>
          <p:cNvSpPr/>
          <p:nvPr/>
        </p:nvSpPr>
        <p:spPr>
          <a:xfrm>
            <a:off x="8046720" y="1645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92024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192024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Risk Analysis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606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risk engine evaluates the event and classifies its severity.</a:t>
            </a:r>
            <a:endParaRPr lang="en-US" sz="1500" dirty="0"/>
          </a:p>
        </p:txBody>
      </p:sp>
      <p:sp>
        <p:nvSpPr>
          <p:cNvPr id="21" name="Step 4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4ADE9F"/>
          </a:solidFill>
          <a:ln w="12700">
            <a:solidFill>
              <a:srgbClr val="4ADE9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20624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4: Decision Making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892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decision logic selects an appropriate response.</a:t>
            </a:r>
            <a:endParaRPr lang="en-US" sz="1500" dirty="0"/>
          </a:p>
        </p:txBody>
      </p:sp>
      <p:sp>
        <p:nvSpPr>
          <p:cNvPr id="26" name="Step 5"/>
          <p:cNvSpPr/>
          <p:nvPr/>
        </p:nvSpPr>
        <p:spPr>
          <a:xfrm>
            <a:off x="429768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4206240"/>
            <a:ext cx="502920" cy="502920"/>
          </a:xfrm>
          <a:prstGeom prst="ellipse">
            <a:avLst/>
          </a:prstGeom>
          <a:solidFill>
            <a:srgbClr val="F2677A"/>
          </a:solidFill>
          <a:ln w="12700">
            <a:solidFill>
              <a:srgbClr val="F2677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4206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420624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5: Action Execution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892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may select a protection, isolation, or recovery action, depending on the implemented workflow.</a:t>
            </a:r>
            <a:endParaRPr lang="en-US" sz="1500" dirty="0"/>
          </a:p>
        </p:txBody>
      </p:sp>
      <p:sp>
        <p:nvSpPr>
          <p:cNvPr id="31" name="Step 6"/>
          <p:cNvSpPr/>
          <p:nvPr/>
        </p:nvSpPr>
        <p:spPr>
          <a:xfrm>
            <a:off x="804672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4206240"/>
            <a:ext cx="502920" cy="502920"/>
          </a:xfrm>
          <a:prstGeom prst="ellipse">
            <a:avLst/>
          </a:prstGeom>
          <a:solidFill>
            <a:srgbClr val="45DAE1"/>
          </a:solidFill>
          <a:ln w="12700">
            <a:solidFill>
              <a:srgbClr val="4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4206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206240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6: Recovery and Reporting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892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integrity is checked before restoration, and relevant results can be recorded.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•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ATTACK-RESISTANT BACKUP &amp; RECOVERY SYSTEM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0" y="64008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E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/ 07</a:t>
            </a:r>
            <a:endParaRPr lang="en-US" sz="1000" dirty="0"/>
          </a:p>
        </p:txBody>
      </p:sp>
      <p:sp>
        <p:nvSpPr>
          <p:cNvPr id="6" name="Summary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554480"/>
            <a:ext cx="105156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Attack-Resistant Backup and Recovery System aims to improve data protection through security-event handling, risk assessment, backup integrity verification, and recovery support.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5DA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9" name="Benefit 1"/>
          <p:cNvSpPr/>
          <p:nvPr/>
        </p:nvSpPr>
        <p:spPr>
          <a:xfrm>
            <a:off x="548640" y="34290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611880"/>
            <a:ext cx="365760" cy="365760"/>
          </a:xfrm>
          <a:prstGeom prst="ellipse">
            <a:avLst/>
          </a:prstGeom>
          <a:solidFill>
            <a:srgbClr val="F5B74A"/>
          </a:solidFill>
          <a:ln w="12700">
            <a:solidFill>
              <a:srgbClr val="F5B7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118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690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Centralized security information</a:t>
            </a:r>
            <a:endParaRPr lang="en-US" sz="1500" dirty="0"/>
          </a:p>
        </p:txBody>
      </p:sp>
      <p:sp>
        <p:nvSpPr>
          <p:cNvPr id="13" name="Benefit 2"/>
          <p:cNvSpPr/>
          <p:nvPr/>
        </p:nvSpPr>
        <p:spPr>
          <a:xfrm>
            <a:off x="3355848" y="34290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4448" y="3611880"/>
            <a:ext cx="365760" cy="3657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84448" y="36118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84448" y="40690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backup integrity checking</a:t>
            </a:r>
            <a:endParaRPr lang="en-US" sz="1500" dirty="0"/>
          </a:p>
        </p:txBody>
      </p:sp>
      <p:sp>
        <p:nvSpPr>
          <p:cNvPr id="17" name="Benefit 3"/>
          <p:cNvSpPr/>
          <p:nvPr/>
        </p:nvSpPr>
        <p:spPr>
          <a:xfrm>
            <a:off x="6163056" y="34290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3611880"/>
            <a:ext cx="365760" cy="365760"/>
          </a:xfrm>
          <a:prstGeom prst="ellipse">
            <a:avLst/>
          </a:prstGeom>
          <a:solidFill>
            <a:srgbClr val="4ADE9F"/>
          </a:solidFill>
          <a:ln w="12700">
            <a:solidFill>
              <a:srgbClr val="4ADE9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36118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40690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for safer data recovery</a:t>
            </a:r>
            <a:endParaRPr lang="en-US" sz="1500" dirty="0"/>
          </a:p>
        </p:txBody>
      </p:sp>
      <p:sp>
        <p:nvSpPr>
          <p:cNvPr id="21" name="Benefit 4"/>
          <p:cNvSpPr/>
          <p:nvPr/>
        </p:nvSpPr>
        <p:spPr>
          <a:xfrm>
            <a:off x="8970264" y="34290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92B48"/>
          </a:solidFill>
          <a:ln w="12700">
            <a:solidFill>
              <a:srgbClr val="1F34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98864" y="3611880"/>
            <a:ext cx="365760" cy="365760"/>
          </a:xfrm>
          <a:prstGeom prst="ellipse">
            <a:avLst/>
          </a:prstGeom>
          <a:solidFill>
            <a:srgbClr val="F2677A"/>
          </a:solidFill>
          <a:ln w="12700">
            <a:solidFill>
              <a:srgbClr val="F267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98864" y="36118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6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98864" y="40690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foundation for coordinated security response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2356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8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3442</Words>
  <Application>WPS Presentation</Application>
  <PresentationFormat>On-screen Show (16:9)</PresentationFormat>
  <Paragraphs>248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Attack-Resistant Backup and Recovery System</dc:title>
  <dc:creator>PptxGenJS</dc:creator>
  <dc:subject>PptxGenJS Presentation</dc:subject>
  <cp:lastModifiedBy>naaol</cp:lastModifiedBy>
  <cp:revision>3</cp:revision>
  <dcterms:created xsi:type="dcterms:W3CDTF">2026-10-25T11:18:00Z</dcterms:created>
  <dcterms:modified xsi:type="dcterms:W3CDTF">2026-10-25T15:35:52Z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7502A3A9C47F434B87997DBBF983A2C4_12</vt:lpwstr>
  </property>
  <property fmtid="{D5CDD505-2E9C-101B-9397-08002B2CF9AE}" pid="3" name="KSOProductBuildVer">
    <vt:lpwstr>1033-12.1.0.29162</vt:lpwstr>
  </property>
</Properties>
</file>